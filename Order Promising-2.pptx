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80dbd639f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80dbd639f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0dbd639f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0dbd639f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dbd639f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dbd639f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aae1e63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aae1e63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48A9"/>
          </a:solidFill>
          <a:ln cap="flat" cmpd="sng" w="9525">
            <a:solidFill>
              <a:srgbClr val="7182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05952" y="3539105"/>
            <a:ext cx="836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2pPr>
            <a:lvl3pPr lvl="2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3pPr>
            <a:lvl4pPr lvl="3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4pPr>
            <a:lvl5pPr lvl="4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5pPr>
            <a:lvl6pPr lvl="5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lvl="6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lvl="7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lvl="8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505952" y="363656"/>
            <a:ext cx="8367300" cy="30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1拷貝.png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1791" y="4681381"/>
            <a:ext cx="1318352" cy="310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拷貝22.png"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81" y="4668682"/>
            <a:ext cx="3877218" cy="3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228600" y="201471"/>
            <a:ext cx="86868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228600" y="201471"/>
            <a:ext cx="86868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228600" y="752037"/>
            <a:ext cx="8686800" cy="3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2pPr>
            <a:lvl3pPr indent="-2984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3pPr>
            <a:lvl4pPr indent="-2984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5pPr>
            <a:lvl6pPr indent="-317500" lvl="5" marL="27432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表格">
  <p:cSld name="標題及表格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頭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722435" y="3305180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722435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/>
            </a:lvl1pPr>
            <a:lvl2pPr indent="-22860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11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1100"/>
            </a:lvl5pPr>
            <a:lvl6pPr indent="-228600" lvl="5" marL="274320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6pPr>
            <a:lvl7pPr indent="-228600" lvl="6" marL="320040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7pPr>
            <a:lvl8pPr indent="-228600" lvl="7" marL="365760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indent="-228600" lvl="8" marL="411480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28600" y="201471"/>
            <a:ext cx="86868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28602" y="1044179"/>
            <a:ext cx="4273200" cy="3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 sz="1500"/>
            </a:lvl1pPr>
            <a:lvl2pPr indent="-2984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 sz="1400"/>
            </a:lvl2pPr>
            <a:lvl3pPr indent="-2921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200"/>
            </a:lvl3pPr>
            <a:lvl4pPr indent="-2794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800"/>
              <a:buChar char="●"/>
              <a:defRPr sz="1100"/>
            </a:lvl4pPr>
            <a:lvl5pPr indent="-2794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800"/>
              <a:buChar char="●"/>
              <a:defRPr sz="1100"/>
            </a:lvl5pPr>
            <a:lvl6pPr indent="-317500" lvl="5" marL="27432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Calibri"/>
              <a:buChar char="•"/>
              <a:defRPr sz="1400"/>
            </a:lvl6pPr>
            <a:lvl7pPr indent="-317500" lvl="6" marL="32004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Calibri"/>
              <a:buChar char="•"/>
              <a:defRPr sz="1400"/>
            </a:lvl7pPr>
            <a:lvl8pPr indent="-317500" lvl="7" marL="36576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Calibri"/>
              <a:buChar char="•"/>
              <a:defRPr sz="1400"/>
            </a:lvl8pPr>
            <a:lvl9pPr indent="-317500" lvl="8" marL="41148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Calibri"/>
              <a:buChar char="•"/>
              <a:defRPr sz="1400"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642338" y="1044179"/>
            <a:ext cx="4273200" cy="3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 sz="1500"/>
            </a:lvl1pPr>
            <a:lvl2pPr indent="-2984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 sz="1400"/>
            </a:lvl2pPr>
            <a:lvl3pPr indent="-2921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200"/>
            </a:lvl3pPr>
            <a:lvl4pPr indent="-2794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800"/>
              <a:buChar char="●"/>
              <a:defRPr sz="1100"/>
            </a:lvl4pPr>
            <a:lvl5pPr indent="-2794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800"/>
              <a:buChar char="●"/>
              <a:defRPr sz="1100"/>
            </a:lvl5pPr>
            <a:lvl6pPr indent="-317500" lvl="5" marL="27432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Calibri"/>
              <a:buChar char="•"/>
              <a:defRPr sz="1400"/>
            </a:lvl6pPr>
            <a:lvl7pPr indent="-317500" lvl="6" marL="32004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Calibri"/>
              <a:buChar char="•"/>
              <a:defRPr sz="1400"/>
            </a:lvl7pPr>
            <a:lvl8pPr indent="-317500" lvl="7" marL="36576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Calibri"/>
              <a:buChar char="•"/>
              <a:defRPr sz="1400"/>
            </a:lvl8pPr>
            <a:lvl9pPr indent="-317500" lvl="8" marL="41148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Calibri"/>
              <a:buChar char="•"/>
              <a:defRPr sz="1400"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未命名-3.jpg" id="32" name="Google Shape;3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7150" y="402377"/>
            <a:ext cx="8789699" cy="4338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文字">
  <p:cSld name="標題及文字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77901" y="878158"/>
            <a:ext cx="83877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2984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2pPr>
            <a:lvl3pPr indent="-2984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3pPr>
            <a:lvl4pPr indent="-2984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5pPr>
            <a:lvl6pPr indent="-317500" lvl="5" marL="27432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type="title"/>
          </p:nvPr>
        </p:nvSpPr>
        <p:spPr>
          <a:xfrm>
            <a:off x="377903" y="267630"/>
            <a:ext cx="83877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377902" y="878158"/>
            <a:ext cx="83868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2984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2pPr>
            <a:lvl3pPr indent="-2984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3pPr>
            <a:lvl4pPr indent="-2984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5pPr>
            <a:lvl6pPr indent="-317500" lvl="5" marL="27432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77903" y="269276"/>
            <a:ext cx="8387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 rot="10800000">
            <a:off x="1524000" y="4822875"/>
            <a:ext cx="0" cy="171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201471"/>
            <a:ext cx="86868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700" u="none" cap="none" strike="noStrik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700" u="none" cap="none" strike="noStrik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700" u="none" cap="none" strike="noStrik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700" u="none" cap="none" strike="noStrik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700" u="none" cap="none" strike="noStrik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700" u="none" cap="none" strike="noStrik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700" u="none" cap="none" strike="noStrik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700" u="none" cap="none" strike="noStrik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752037"/>
            <a:ext cx="8686800" cy="3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FF66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A8109"/>
              </a:buClr>
              <a:buSzPts val="1000"/>
              <a:buFont typeface="Noto Sans Symbols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79400" lvl="3" marL="18288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354198"/>
              </a:buClr>
              <a:buSzPts val="800"/>
              <a:buFont typeface="Noto Sans Symbols"/>
              <a:buChar char="●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3050" lvl="4" marL="22860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A2BD90"/>
              </a:buClr>
              <a:buSzPts val="700"/>
              <a:buFont typeface="Noto Sans Symbols"/>
              <a:buChar char="●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85750" lvl="7" marL="3657600" marR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85750" lvl="8" marL="4114800" marR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/>
          <p:nvPr/>
        </p:nvSpPr>
        <p:spPr>
          <a:xfrm>
            <a:off x="3038317" y="4869759"/>
            <a:ext cx="3369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fld id="{00000000-1234-1234-1234-123412341234}" type="slidenum">
              <a:rPr b="0" i="0" lang="zh-TW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.png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21267" y="4887680"/>
            <a:ext cx="961605" cy="226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拷貝33.png" id="11" name="Google Shape;11;p1"/>
          <p:cNvPicPr preferRelativeResize="0"/>
          <p:nvPr/>
        </p:nvPicPr>
        <p:blipFill rotWithShape="1">
          <a:blip r:embed="rId2">
            <a:alphaModFix amt="88000"/>
          </a:blip>
          <a:srcRect b="0" l="0" r="0" t="0"/>
          <a:stretch/>
        </p:blipFill>
        <p:spPr>
          <a:xfrm>
            <a:off x="95626" y="4852220"/>
            <a:ext cx="3181762" cy="26171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ctrTitle"/>
          </p:nvPr>
        </p:nvSpPr>
        <p:spPr>
          <a:xfrm>
            <a:off x="505952" y="363656"/>
            <a:ext cx="8367300" cy="309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Order Promising</a:t>
            </a:r>
            <a:endParaRPr/>
          </a:p>
        </p:txBody>
      </p:sp>
      <p:sp>
        <p:nvSpPr>
          <p:cNvPr id="44" name="Google Shape;44;p11"/>
          <p:cNvSpPr txBox="1"/>
          <p:nvPr>
            <p:ph idx="1" type="subTitle"/>
          </p:nvPr>
        </p:nvSpPr>
        <p:spPr>
          <a:xfrm>
            <a:off x="505952" y="3539105"/>
            <a:ext cx="8367300" cy="685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12"/>
          <p:cNvCxnSpPr/>
          <p:nvPr/>
        </p:nvCxnSpPr>
        <p:spPr>
          <a:xfrm flipH="1" rot="10800000">
            <a:off x="521250" y="2483275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12"/>
          <p:cNvSpPr txBox="1"/>
          <p:nvPr>
            <p:ph type="title"/>
          </p:nvPr>
        </p:nvSpPr>
        <p:spPr>
          <a:xfrm>
            <a:off x="228600" y="201471"/>
            <a:ext cx="8686800" cy="5073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Scenario - 1</a:t>
            </a:r>
            <a:endParaRPr/>
          </a:p>
        </p:txBody>
      </p:sp>
      <p:cxnSp>
        <p:nvCxnSpPr>
          <p:cNvPr id="51" name="Google Shape;51;p12"/>
          <p:cNvCxnSpPr/>
          <p:nvPr/>
        </p:nvCxnSpPr>
        <p:spPr>
          <a:xfrm flipH="1" rot="10800000">
            <a:off x="521250" y="2031200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" name="Google Shape;52;p12"/>
          <p:cNvSpPr/>
          <p:nvPr/>
        </p:nvSpPr>
        <p:spPr>
          <a:xfrm>
            <a:off x="1678725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 txBox="1"/>
          <p:nvPr/>
        </p:nvSpPr>
        <p:spPr>
          <a:xfrm>
            <a:off x="1678725" y="815882"/>
            <a:ext cx="125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1-1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100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9/1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2"/>
          <p:cNvSpPr/>
          <p:nvPr/>
        </p:nvSpPr>
        <p:spPr>
          <a:xfrm>
            <a:off x="4659675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 txBox="1"/>
          <p:nvPr/>
        </p:nvSpPr>
        <p:spPr>
          <a:xfrm>
            <a:off x="4751675" y="815882"/>
            <a:ext cx="125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2-1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200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11/30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8/31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2686400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 txBox="1"/>
          <p:nvPr/>
        </p:nvSpPr>
        <p:spPr>
          <a:xfrm>
            <a:off x="2778400" y="815882"/>
            <a:ext cx="125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3-1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300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9/1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2"/>
          <p:cNvSpPr/>
          <p:nvPr/>
        </p:nvSpPr>
        <p:spPr>
          <a:xfrm>
            <a:off x="551900" y="2299625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2"/>
          <p:cNvSpPr txBox="1"/>
          <p:nvPr/>
        </p:nvSpPr>
        <p:spPr>
          <a:xfrm>
            <a:off x="444600" y="2659000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300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3693800" y="2326225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2"/>
          <p:cNvSpPr txBox="1"/>
          <p:nvPr/>
        </p:nvSpPr>
        <p:spPr>
          <a:xfrm>
            <a:off x="3679575" y="2659000"/>
            <a:ext cx="9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Sch. Recp 2</a:t>
            </a: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= 11/20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2"/>
          <p:cNvSpPr/>
          <p:nvPr/>
        </p:nvSpPr>
        <p:spPr>
          <a:xfrm>
            <a:off x="690129" y="1884786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2"/>
          <p:cNvSpPr txBox="1"/>
          <p:nvPr/>
        </p:nvSpPr>
        <p:spPr>
          <a:xfrm>
            <a:off x="782129" y="814968"/>
            <a:ext cx="125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4-1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200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10/15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8/15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2"/>
          <p:cNvSpPr txBox="1"/>
          <p:nvPr/>
        </p:nvSpPr>
        <p:spPr>
          <a:xfrm>
            <a:off x="4494000" y="3541550"/>
            <a:ext cx="442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 &gt; Req Date &gt; Create Date &gt; Qty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Supply &gt; Sch Receipt &gt; New Shipment (lead time = 90 days)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Result: Promise Date/Qty of each order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3"/>
          <p:cNvCxnSpPr/>
          <p:nvPr/>
        </p:nvCxnSpPr>
        <p:spPr>
          <a:xfrm flipH="1" rot="10800000">
            <a:off x="521250" y="2483275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3"/>
          <p:cNvSpPr txBox="1"/>
          <p:nvPr>
            <p:ph type="title"/>
          </p:nvPr>
        </p:nvSpPr>
        <p:spPr>
          <a:xfrm>
            <a:off x="228600" y="201471"/>
            <a:ext cx="8686800" cy="5073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Scenario - 2: Selected Warehouse</a:t>
            </a:r>
            <a:endParaRPr/>
          </a:p>
        </p:txBody>
      </p:sp>
      <p:cxnSp>
        <p:nvCxnSpPr>
          <p:cNvPr id="71" name="Google Shape;71;p13"/>
          <p:cNvCxnSpPr/>
          <p:nvPr/>
        </p:nvCxnSpPr>
        <p:spPr>
          <a:xfrm flipH="1" rot="10800000">
            <a:off x="521250" y="2031200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3"/>
          <p:cNvSpPr/>
          <p:nvPr/>
        </p:nvSpPr>
        <p:spPr>
          <a:xfrm>
            <a:off x="1678725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678725" y="624247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1-1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100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9/1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 = 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4659675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4751675" y="624247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2-1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200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11/30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8/31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 = 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2686400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2778400" y="624247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3-1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300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9/1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 = 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551900" y="2299625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444600" y="2597677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50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3693800" y="2326225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3679575" y="2597677"/>
            <a:ext cx="9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Sch. Recp 200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= 11/20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690129" y="1884786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782129" y="623333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4-1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200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10/15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8/15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 = 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4494000" y="3541550"/>
            <a:ext cx="442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 &gt; Req Date &gt; Create Date &gt; Qty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Supply &gt; Sch Receipt &gt; New Shipment (lead time = 90 days)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Selected WH &gt; Alternate WH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Result: Promise Date/Qty/Ship Warehouse of each order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3"/>
          <p:cNvCxnSpPr/>
          <p:nvPr/>
        </p:nvCxnSpPr>
        <p:spPr>
          <a:xfrm flipH="1" rot="10800000">
            <a:off x="520771" y="3127123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3"/>
          <p:cNvSpPr/>
          <p:nvPr/>
        </p:nvSpPr>
        <p:spPr>
          <a:xfrm>
            <a:off x="551421" y="2943473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4121" y="3241525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300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2344206" y="2970073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329981" y="3241525"/>
            <a:ext cx="9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Sch. Recp 500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= 11/5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766250" y="2146402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Warehouse 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766250" y="2788427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Warehouse 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14"/>
          <p:cNvCxnSpPr/>
          <p:nvPr/>
        </p:nvCxnSpPr>
        <p:spPr>
          <a:xfrm flipH="1" rot="10800000">
            <a:off x="521250" y="2483275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4"/>
          <p:cNvSpPr txBox="1"/>
          <p:nvPr>
            <p:ph type="title"/>
          </p:nvPr>
        </p:nvSpPr>
        <p:spPr>
          <a:xfrm>
            <a:off x="228600" y="201471"/>
            <a:ext cx="8686800" cy="5073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Scenario - 3: Substitution Part</a:t>
            </a:r>
            <a:endParaRPr/>
          </a:p>
        </p:txBody>
      </p:sp>
      <p:cxnSp>
        <p:nvCxnSpPr>
          <p:cNvPr id="98" name="Google Shape;98;p14"/>
          <p:cNvCxnSpPr/>
          <p:nvPr/>
        </p:nvCxnSpPr>
        <p:spPr>
          <a:xfrm flipH="1" rot="10800000">
            <a:off x="521250" y="2031200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4"/>
          <p:cNvSpPr/>
          <p:nvPr/>
        </p:nvSpPr>
        <p:spPr>
          <a:xfrm>
            <a:off x="1678725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678725" y="624247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1-1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100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9/1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659675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751675" y="624247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2-1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200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11/30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8/31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2686400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778400" y="624247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3-1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300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9/1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51900" y="2299625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44600" y="2597677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50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3693800" y="2326225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679575" y="2597677"/>
            <a:ext cx="9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Sch. Recp 150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= 11/20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90129" y="1884786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782129" y="623333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4-1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200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10/15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8/15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494000" y="3541550"/>
            <a:ext cx="44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 &gt; Req Date &gt; Create Date &gt; Qty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Supply &gt; Sch Receipt &gt; New Shipment (lead time = 90 days)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Selected</a:t>
            </a: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 &gt; Alternate WH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Part &gt; Alternate Part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Result: Promise Date/Qty/Ship Warehouse of each order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4"/>
          <p:cNvCxnSpPr/>
          <p:nvPr/>
        </p:nvCxnSpPr>
        <p:spPr>
          <a:xfrm flipH="1" rot="10800000">
            <a:off x="520771" y="3127123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4"/>
          <p:cNvSpPr/>
          <p:nvPr/>
        </p:nvSpPr>
        <p:spPr>
          <a:xfrm>
            <a:off x="551421" y="2943473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44121" y="3241525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300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2344206" y="2970073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2329981" y="3241525"/>
            <a:ext cx="9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Sch. Recp 500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= 11/5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766250" y="2146402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766250" y="2788427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918650" y="580975"/>
            <a:ext cx="19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Orders can take Bike A or A1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15"/>
          <p:cNvCxnSpPr/>
          <p:nvPr/>
        </p:nvCxnSpPr>
        <p:spPr>
          <a:xfrm flipH="1" rot="10800000">
            <a:off x="521250" y="2483275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5"/>
          <p:cNvSpPr txBox="1"/>
          <p:nvPr>
            <p:ph type="title"/>
          </p:nvPr>
        </p:nvSpPr>
        <p:spPr>
          <a:xfrm>
            <a:off x="228600" y="201471"/>
            <a:ext cx="8686800" cy="5073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Scenario - 4: Substitution Part</a:t>
            </a:r>
            <a:endParaRPr/>
          </a:p>
        </p:txBody>
      </p:sp>
      <p:cxnSp>
        <p:nvCxnSpPr>
          <p:cNvPr id="126" name="Google Shape;126;p15"/>
          <p:cNvCxnSpPr/>
          <p:nvPr/>
        </p:nvCxnSpPr>
        <p:spPr>
          <a:xfrm flipH="1" rot="10800000">
            <a:off x="521250" y="2031200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5"/>
          <p:cNvSpPr/>
          <p:nvPr/>
        </p:nvSpPr>
        <p:spPr>
          <a:xfrm>
            <a:off x="1678725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678725" y="624247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1-1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100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9/1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4659675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4751675" y="624247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2-1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200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11/30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8/31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2686400" y="1885700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2778400" y="624247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3-1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300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11/15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9/1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51900" y="2299625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444600" y="2597677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50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693800" y="2326225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3679575" y="2597677"/>
            <a:ext cx="9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Sch. Recp 150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= 11/20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690129" y="1884786"/>
            <a:ext cx="383400" cy="2607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782129" y="623333"/>
            <a:ext cx="125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4-1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 = 200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 =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 = 10/15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= 8/15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4494000" y="3541550"/>
            <a:ext cx="44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 &gt; Req Date &gt; Create Date &gt; Qty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Supply &gt; Sch Receipt &gt; New Shipment (lead time = 90 days)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Selected WH &gt; Alternate WH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Part &gt; Alternate Part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Result: Promise Date/Qty/Ship Warehouse of each order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15"/>
          <p:cNvCxnSpPr/>
          <p:nvPr/>
        </p:nvCxnSpPr>
        <p:spPr>
          <a:xfrm flipH="1" rot="10800000">
            <a:off x="520771" y="3127123"/>
            <a:ext cx="82251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5"/>
          <p:cNvSpPr/>
          <p:nvPr/>
        </p:nvSpPr>
        <p:spPr>
          <a:xfrm>
            <a:off x="551421" y="2943473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444121" y="3241525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300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2344206" y="2970073"/>
            <a:ext cx="383400" cy="321900"/>
          </a:xfrm>
          <a:prstGeom prst="triangle">
            <a:avLst>
              <a:gd fmla="val 50000" name="adj"/>
            </a:avLst>
          </a:prstGeom>
          <a:solidFill>
            <a:srgbClr val="4A81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2329981" y="3241525"/>
            <a:ext cx="9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Sch. Recp 500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= 11/5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7766250" y="2146402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7766250" y="2788427"/>
            <a:ext cx="9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Bike A1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6918650" y="580975"/>
            <a:ext cx="19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zh-TW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Order 1 and Order 2 can take Bike A or A1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iant Group 2020">
  <a:themeElements>
    <a:clrScheme name="1_SCM Taiwan 1">
      <a:dk1>
        <a:srgbClr val="000000"/>
      </a:dk1>
      <a:lt1>
        <a:srgbClr val="FFFFFF"/>
      </a:lt1>
      <a:dk2>
        <a:srgbClr val="061DC8"/>
      </a:dk2>
      <a:lt2>
        <a:srgbClr val="727272"/>
      </a:lt2>
      <a:accent1>
        <a:srgbClr val="7889FB"/>
      </a:accent1>
      <a:accent2>
        <a:srgbClr val="C7CDFD"/>
      </a:accent2>
      <a:accent3>
        <a:srgbClr val="FFFFFF"/>
      </a:accent3>
      <a:accent4>
        <a:srgbClr val="000000"/>
      </a:accent4>
      <a:accent5>
        <a:srgbClr val="BEC4FD"/>
      </a:accent5>
      <a:accent6>
        <a:srgbClr val="B4BAE5"/>
      </a:accent6>
      <a:hlink>
        <a:srgbClr val="669900"/>
      </a:hlink>
      <a:folHlink>
        <a:srgbClr val="8CC8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